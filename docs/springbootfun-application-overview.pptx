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-548640"/>
            <a:ext cx="1828800" cy="1828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0" y="4206240"/>
            <a:ext cx="2560320" cy="2560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731520" y="5394960"/>
            <a:ext cx="1645920" cy="1645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springbootfun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BEAFE"/>
                </a:solidFill>
              </a:defRPr>
            </a:pPr>
            <a:r>
              <a:t>Spring Boot 4 REST API for generating and storing greetings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337560"/>
            <a:ext cx="201168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Java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3337560"/>
            <a:ext cx="2331720" cy="43891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Spring Boot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3337560"/>
            <a:ext cx="1874519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H2 + JPA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920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1D5DB"/>
                </a:solidFill>
              </a:defRPr>
            </a:pPr>
            <a:r>
              <a:t>A compact example that demonstrates REST endpoints, transactional persistence, and layered automated 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02240"/>
                </a:solidFill>
              </a:defRPr>
            </a:pPr>
            <a:r>
              <a:t>Application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563"/>
                </a:solidFill>
              </a:defRPr>
            </a:pPr>
            <a:r>
              <a:t>What the project demonstrates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73152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Personalized greetings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Returns JSON responses like { id: 1, message: "Hello, World!" } using either default, query parameter, or path-variable input.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73152" cy="1463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6479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Persistent message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6712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Each generated greeting is written to the greeting_messages table with a creation timestamp.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0020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6479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Developer-friendly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6712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An embedded H2 database and H2 console make local inspection easy during demos and tests.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7315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2219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Layered Spring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2452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Controller, service, repository, and entity classes keep HTTP handling, business logic, and persistence separated.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6576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65760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82219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Tested behavior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22452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MockMvc controller tests, RestAssured integration tests, and Cucumber BDD scenarios verify the API contract.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6576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657600"/>
            <a:ext cx="73152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822192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Minimal footprint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2452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A focused Maven project that can be run locally with ./mvnw spring-boot:run and tested with ./mvnw test.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springbootfun application overview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02240"/>
                </a:solidFill>
              </a:defRPr>
            </a:pPr>
            <a:r>
              <a:t>REST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563"/>
                </a:solidFill>
              </a:defRPr>
            </a:pPr>
            <a:r>
              <a:t>One resource with three simple access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51560" cy="411480"/>
          </a:xfrm>
          <a:prstGeom prst="roundRect">
            <a:avLst/>
          </a:prstGeom>
          <a:solidFill>
            <a:srgbClr val="10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1600200"/>
            <a:ext cx="3886200" cy="411480"/>
          </a:xfrm>
          <a:prstGeom prst="roundRect">
            <a:avLst/>
          </a:prstGeom>
          <a:solidFill>
            <a:srgbClr val="10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Endpoint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600200"/>
            <a:ext cx="5074920" cy="411480"/>
          </a:xfrm>
          <a:prstGeom prst="roundRect">
            <a:avLst/>
          </a:prstGeom>
          <a:solidFill>
            <a:srgbClr val="10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Behavior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03120"/>
            <a:ext cx="1051560" cy="47548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150" b="1">
                <a:solidFill>
                  <a:srgbClr val="111827"/>
                </a:solidFill>
              </a:defRPr>
            </a:pPr>
            <a:r>
              <a:t>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2103120"/>
            <a:ext cx="3886200" cy="47548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l">
              <a:defRPr sz="1150" b="0">
                <a:solidFill>
                  <a:srgbClr val="111827"/>
                </a:solidFill>
              </a:defRPr>
            </a:pPr>
            <a:r>
              <a:t>/api/greetings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2103120"/>
            <a:ext cx="5074920" cy="47548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l">
              <a:defRPr sz="1150" b="0">
                <a:solidFill>
                  <a:srgbClr val="111827"/>
                </a:solidFill>
              </a:defRPr>
            </a:pPr>
            <a:r>
              <a:t>Generate the default "Hello, World!" greeting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70048"/>
            <a:ext cx="10515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150" b="1">
                <a:solidFill>
                  <a:srgbClr val="111827"/>
                </a:solidFill>
              </a:defRPr>
            </a:pPr>
            <a:r>
              <a:t>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2670048"/>
            <a:ext cx="3886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l">
              <a:defRPr sz="1150" b="0">
                <a:solidFill>
                  <a:srgbClr val="111827"/>
                </a:solidFill>
              </a:defRPr>
            </a:pPr>
            <a:r>
              <a:t>/api/greetings?name=Spring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2670048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l">
              <a:defRPr sz="1150" b="0">
                <a:solidFill>
                  <a:srgbClr val="111827"/>
                </a:solidFill>
              </a:defRPr>
            </a:pPr>
            <a:r>
              <a:t>Generate a greeting from a query parameter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36976"/>
            <a:ext cx="1051560" cy="47548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150" b="1">
                <a:solidFill>
                  <a:srgbClr val="111827"/>
                </a:solidFill>
              </a:defRPr>
            </a:pPr>
            <a:r>
              <a:t>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3236976"/>
            <a:ext cx="3886200" cy="47548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l">
              <a:defRPr sz="1150" b="0">
                <a:solidFill>
                  <a:srgbClr val="111827"/>
                </a:solidFill>
              </a:defRPr>
            </a:pPr>
            <a:r>
              <a:t>/api/greetings/Cursor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3236976"/>
            <a:ext cx="5074920" cy="47548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l">
              <a:defRPr sz="1150" b="0">
                <a:solidFill>
                  <a:srgbClr val="111827"/>
                </a:solidFill>
              </a:defRPr>
            </a:pPr>
            <a:r>
              <a:t>Generate a greeting from a path variable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77639"/>
            <a:ext cx="4800600" cy="15544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87367"/>
            <a:ext cx="4343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Example request and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361687"/>
            <a:ext cx="4343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5E7EB"/>
                </a:solidFill>
                <a:latin typeface="Courier New"/>
              </a:defRPr>
            </a:pPr>
            <a:r>
              <a:t>curl http://localhost:8080/api/greetings</a:t>
            </a:r>
            <a:br/>
            <a:br/>
            <a:r>
              <a:t>{</a:t>
            </a:r>
            <a:br/>
            <a:r>
              <a:t>  "id": 1,</a:t>
            </a:r>
            <a:br/>
            <a:r>
              <a:t>  "message": "Hello, World!"</a:t>
            </a:r>
            <a:br/>
            <a: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977639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3977639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142231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Response shape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544567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The API returns a compact JSON record containing the generated database id and the greeting text. The timestamp is stored in the database, not returned in the response.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springbootfun application overview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02240"/>
                </a:solidFill>
              </a:defRPr>
            </a:pPr>
            <a:r>
              <a:t>Request lifecycle and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563"/>
                </a:solidFill>
              </a:defRPr>
            </a:pPr>
            <a:r>
              <a:t>The application follows a conventional Spring layered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82880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HTTP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6207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4B5563"/>
                </a:solidFill>
              </a:defRPr>
            </a:pPr>
            <a:r>
              <a:t>curl, tests, or browser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2441448"/>
            <a:ext cx="41148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2148840"/>
            <a:ext cx="182880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GreetingController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86207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4B5563"/>
                </a:solidFill>
              </a:defRPr>
            </a:pPr>
            <a:r>
              <a:t>/api/greetings routes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2441448"/>
            <a:ext cx="50292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2148840"/>
            <a:ext cx="182880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GreetingService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86207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4B5563"/>
                </a:solidFill>
              </a:defRPr>
            </a:pPr>
            <a:r>
              <a:t>Builds message and saves transactionally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03720" y="2441448"/>
            <a:ext cx="54864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52360" y="2148840"/>
            <a:ext cx="18288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GreetingMessageRepository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86207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4B5563"/>
                </a:solidFill>
              </a:defRPr>
            </a:pPr>
            <a:r>
              <a:t>Spring Data JPA persistence 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81160" y="2441448"/>
            <a:ext cx="548640" cy="0"/>
          </a:xfrm>
          <a:prstGeom prst="line">
            <a:avLst/>
          </a:prstGeom>
          <a:ln w="1905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29800" y="2148840"/>
            <a:ext cx="182880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H2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86207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4B5563"/>
                </a:solidFill>
              </a:defRPr>
            </a:pPr>
            <a:r>
              <a:t>greeting_messages 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343400"/>
            <a:ext cx="4754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4343400"/>
            <a:ext cx="73152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507992"/>
            <a:ext cx="4370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Transactional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910328"/>
            <a:ext cx="4343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GreetingService is annotated with @Transactional, so message creation and persistence are treated as one unit of 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343400"/>
            <a:ext cx="4754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434340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507992"/>
            <a:ext cx="4370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Clear responsibility split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910328"/>
            <a:ext cx="4343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The controller handles HTTP input, the service owns message generation, and the repository delegates persistence to JPA.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springbootfun application overview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02240"/>
                </a:solidFill>
              </a:defRPr>
            </a:pPr>
            <a:r>
              <a:t>Persistence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563"/>
                </a:solidFill>
              </a:defRPr>
            </a:pPr>
            <a:r>
              <a:t>Every generated greeting becomes a durable record for the app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45720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00" b="0">
                <a:solidFill>
                  <a:srgbClr val="111827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868680" y="1600200"/>
            <a:ext cx="45720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greeting_messages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240"/>
                </a:solidFill>
              </a:defRPr>
            </a:pPr>
            <a: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33172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Long, identity primary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90087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240"/>
                </a:solidFill>
              </a:defRPr>
            </a:pPr>
            <a:r>
              <a:t>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990087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Required greeting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48456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240"/>
                </a:solidFill>
              </a:defRPr>
            </a:pPr>
            <a:r>
              <a:t>created_at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648456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Required Instant timestamp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691640"/>
            <a:ext cx="5303520" cy="18288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801368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Local data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075688"/>
            <a:ext cx="48463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5E7EB"/>
                </a:solidFill>
                <a:latin typeface="Courier New"/>
              </a:defRPr>
            </a:pPr>
            <a:r>
              <a:t>spring.datasource.url=jdbc:h2:mem:greetingsdb</a:t>
            </a:r>
            <a:br/>
            <a:r>
              <a:t>spring.h2.console.enabled=true</a:t>
            </a:r>
            <a:br/>
            <a:r>
              <a:t>spring.jpa.hibernate.ddl-auto=create-drop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886200"/>
            <a:ext cx="5303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88620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050792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Demo-friendly inspection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45312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The H2 console is available at /h2-console with JDBC URL jdbc:h2:mem:greetingsdb, user sa, and an empty password.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springbootfun application overview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02240"/>
                </a:solidFill>
              </a:defRPr>
            </a:pPr>
            <a:r>
              <a:t>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563"/>
                </a:solidFill>
              </a:defRPr>
            </a:pPr>
            <a:r>
              <a:t>Coverage spans controller behavior, real HTTP calls, and BDD scenarios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487" y="1828800"/>
            <a:ext cx="3474720" cy="685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BDD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847088"/>
            <a:ext cx="3840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672687" y="2788920"/>
            <a:ext cx="4846320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Integration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86887" y="3749040"/>
            <a:ext cx="6217920" cy="6858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Controller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3383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892040"/>
            <a:ext cx="7315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056632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Feature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589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Default, query-parameter, and path-variable greetings are each verified as stored 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892040"/>
            <a:ext cx="3383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489204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056632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Database assertion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4589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Tests confirm the H2 table receives the generated message and timestamp.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892040"/>
            <a:ext cx="3383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4892040"/>
            <a:ext cx="73152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5056632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One command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54589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./mvnw test runs the automated suite from the Maven wrapper.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springbootfun application overview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02240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563"/>
                </a:solidFill>
              </a:defRPr>
            </a:pPr>
            <a:r>
              <a:t>A focused Spring Boot API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73152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73352"/>
            <a:ext cx="4599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45720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Java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73152" cy="713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73352"/>
            <a:ext cx="4599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5720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Spring Boot 4.0.6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468880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468880"/>
            <a:ext cx="73152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633472"/>
            <a:ext cx="4599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Web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35808"/>
            <a:ext cx="45720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Spring Web MVC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468880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468880"/>
            <a:ext cx="73152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33472"/>
            <a:ext cx="4599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Persistence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35808"/>
            <a:ext cx="45720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Spring Data JPA + Hibernate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429000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429000"/>
            <a:ext cx="73152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593592"/>
            <a:ext cx="4599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995928"/>
            <a:ext cx="45720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H2 in-memory 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429000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429000"/>
            <a:ext cx="73152" cy="713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593592"/>
            <a:ext cx="4599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95928"/>
            <a:ext cx="45720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Maven Wrapper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389120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389120"/>
            <a:ext cx="73152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553712"/>
            <a:ext cx="4599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956048"/>
            <a:ext cx="45720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JUnit 5, MockMvc, RestAssured, Cucumber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springbootfun application overview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02240"/>
                </a:solidFill>
              </a:defRPr>
            </a:pPr>
            <a:r>
              <a:t>Developer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563"/>
                </a:solidFill>
              </a:defRPr>
            </a:pPr>
            <a:r>
              <a:t>Run, test, and inspect locally with simple commands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516636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18488"/>
            <a:ext cx="4709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Start the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92808"/>
            <a:ext cx="47091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5E7EB"/>
                </a:solidFill>
                <a:latin typeface="Courier New"/>
              </a:defRPr>
            </a:pPr>
            <a:r>
              <a:t>./mvnw spring-boot:run</a:t>
            </a:r>
            <a:br/>
            <a:r>
              <a:t># Application starts at http://localhost:8080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16636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18488"/>
            <a:ext cx="4709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Run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92808"/>
            <a:ext cx="47091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5E7EB"/>
                </a:solidFill>
                <a:latin typeface="Courier New"/>
              </a:defRPr>
            </a:pPr>
            <a:r>
              <a:t>./mvnw test</a:t>
            </a:r>
            <a:br/>
            <a:r>
              <a:t># Runs unit, integration, and BDD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46120"/>
            <a:ext cx="51663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2461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10712"/>
            <a:ext cx="4782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Demo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13048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Call /api/greetings for the default greeting.</a:t>
            </a:r>
            <a:br/>
            <a:r>
              <a:t>Call /api/greetings?name=Spring for query-parameter input.</a:t>
            </a:r>
            <a:br/>
            <a:r>
              <a:t>Call /api/greetings/Cursor for path-variable input.</a:t>
            </a:r>
            <a:br/>
            <a:r>
              <a:t>Open /h2-console to inspect stored greeting_messages rows.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246120"/>
            <a:ext cx="51663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246120"/>
            <a:ext cx="73152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410712"/>
            <a:ext cx="4782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What to emphasize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13048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The same service path handles each request variant, persists the generated message, and returns the database id plus greeting 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springbootfun application overview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02240"/>
                </a:solidFill>
              </a:defRPr>
            </a:pPr>
            <a:r>
              <a:t>Repository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563"/>
                </a:solidFill>
              </a:defRPr>
            </a:pPr>
            <a:r>
              <a:t>Where the main application responsibilities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2926080" cy="40233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README.md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17320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Project overview, run commands, endpoint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21408"/>
            <a:ext cx="2926080" cy="40233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pom.xml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21408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Spring Boot, Maven, Java, and test dependencies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25496"/>
            <a:ext cx="2926080" cy="40233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GreetingController.java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825496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REST endpoints under /api/greetings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29584"/>
            <a:ext cx="2926080" cy="40233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GreetingService.java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529584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Greeting generation and transactional save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33672"/>
            <a:ext cx="2926080" cy="40233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GreetingMessage.java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233672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JPA entity for greeting_messages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937760"/>
            <a:ext cx="2926080" cy="40233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greeting.feature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937760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Cucumber behavior scenarios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springbootfun application overview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02240"/>
                </a:solidFill>
              </a:defRPr>
            </a:pPr>
            <a:r>
              <a:t>Possible extension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563"/>
                </a:solidFill>
              </a:defRPr>
            </a:pPr>
            <a:r>
              <a:t>Natural next steps if the sample evolves beyond 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73352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API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Add OpenAPI/Swagger generation so consumers can discover endpoints and response schemas.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73352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Input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7568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Normalize or validate names and define responses for invalid input or edge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73352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Production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7568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Swap H2 for a managed relational database while preserving the repository contract.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3756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37560"/>
            <a:ext cx="731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502152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0448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Add structured logs, metrics, and health/readiness checks for operational visibility.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3756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37560"/>
            <a:ext cx="73152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502152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Security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90448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Protect administrative access such as the database console and add auth if endpoints become user-facing.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3756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3756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502152"/>
            <a:ext cx="2999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240"/>
                </a:solidFill>
              </a:defRPr>
            </a:pPr>
            <a:r>
              <a:t>History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90448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B5563"/>
                </a:solidFill>
              </a:defRPr>
            </a:pPr>
            <a:r>
              <a:t>Expose read endpoints for stored greeting history if persisted data becomes part of the product.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springbootfun application overview |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